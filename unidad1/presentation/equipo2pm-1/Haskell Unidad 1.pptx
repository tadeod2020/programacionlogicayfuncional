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Condensed Bold" charset="1" panose="02000000000000000000"/>
      <p:regular r:id="rId14"/>
    </p:embeddedFont>
    <p:embeddedFont>
      <p:font typeface="Roboto Bold" charset="1" panose="02000000000000000000"/>
      <p:regular r:id="rId15"/>
    </p:embeddedFont>
    <p:embeddedFont>
      <p:font typeface="Roboto Condensed" charset="1" panose="02000000000000000000"/>
      <p:regular r:id="rId16"/>
    </p:embeddedFont>
    <p:embeddedFont>
      <p:font typeface="Roboto" charset="1" panose="02000000000000000000"/>
      <p:regular r:id="rId17"/>
    </p:embeddedFont>
    <p:embeddedFont>
      <p:font typeface="Roboto Condensed Italics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13" Target="../media/image54.pn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16" Target="../media/image57.png" Type="http://schemas.openxmlformats.org/officeDocument/2006/relationships/image"/><Relationship Id="rId17" Target="../media/image58.png" Type="http://schemas.openxmlformats.org/officeDocument/2006/relationships/image"/><Relationship Id="rId18" Target="../media/image59.png" Type="http://schemas.openxmlformats.org/officeDocument/2006/relationships/image"/><Relationship Id="rId19" Target="../media/image60.png" Type="http://schemas.openxmlformats.org/officeDocument/2006/relationships/image"/><Relationship Id="rId2" Target="../media/image43.png" Type="http://schemas.openxmlformats.org/officeDocument/2006/relationships/image"/><Relationship Id="rId20" Target="../media/image61.png" Type="http://schemas.openxmlformats.org/officeDocument/2006/relationships/image"/><Relationship Id="rId21" Target="../media/image62.png" Type="http://schemas.openxmlformats.org/officeDocument/2006/relationships/image"/><Relationship Id="rId22" Target="../media/image63.png" Type="http://schemas.openxmlformats.org/officeDocument/2006/relationships/image"/><Relationship Id="rId23" Target="../media/image64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29866" y="852695"/>
            <a:ext cx="11112804" cy="8581610"/>
          </a:xfrm>
          <a:custGeom>
            <a:avLst/>
            <a:gdLst/>
            <a:ahLst/>
            <a:cxnLst/>
            <a:rect r="r" b="b" t="t" l="l"/>
            <a:pathLst>
              <a:path h="8581610" w="11112804">
                <a:moveTo>
                  <a:pt x="0" y="0"/>
                </a:moveTo>
                <a:lnTo>
                  <a:pt x="11112804" y="0"/>
                </a:lnTo>
                <a:lnTo>
                  <a:pt x="11112804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4159" y="1500646"/>
            <a:ext cx="6877820" cy="245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4"/>
              </a:lnSpc>
            </a:pPr>
            <a:r>
              <a:rPr lang="en-US" sz="18494" spc="-370" b="true">
                <a:solidFill>
                  <a:srgbClr val="9F82E1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Haskell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0489" y="3718811"/>
            <a:ext cx="8281581" cy="901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8"/>
              </a:lnSpc>
            </a:pPr>
            <a:r>
              <a:rPr lang="en-US" b="true" sz="3023" spc="-60">
                <a:solidFill>
                  <a:srgbClr val="9F82E1"/>
                </a:solidFill>
                <a:latin typeface="Roboto Bold"/>
                <a:ea typeface="Roboto Bold"/>
                <a:cs typeface="Roboto Bold"/>
                <a:sym typeface="Roboto Bold"/>
              </a:rPr>
              <a:t>UN LENGUAJE DONDE TODO ES UNA EXPRESIÓN Y NADA OCURRE HASTA QUE HACE FALTA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8539" y="5081275"/>
            <a:ext cx="5476550" cy="91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707" spc="-54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Introducción a lenguajes funcionales</a:t>
            </a:r>
          </a:p>
          <a:p>
            <a:pPr algn="l">
              <a:lnSpc>
                <a:spcPts val="3790"/>
              </a:lnSpc>
            </a:pPr>
            <a:r>
              <a:rPr lang="en-US" sz="2707" spc="-54" b="true">
                <a:solidFill>
                  <a:srgbClr val="9F82E1">
                    <a:alpha val="84706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Unidad 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6428009"/>
            <a:ext cx="6540804" cy="3858991"/>
          </a:xfrm>
          <a:custGeom>
            <a:avLst/>
            <a:gdLst/>
            <a:ahLst/>
            <a:cxnLst/>
            <a:rect r="r" b="b" t="t" l="l"/>
            <a:pathLst>
              <a:path h="3858991" w="6540804">
                <a:moveTo>
                  <a:pt x="0" y="0"/>
                </a:moveTo>
                <a:lnTo>
                  <a:pt x="6540804" y="0"/>
                </a:lnTo>
                <a:lnTo>
                  <a:pt x="6540804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8459" y="7976681"/>
            <a:ext cx="4561903" cy="861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654" spc="-53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Daniels Ceballos Axel Tadeo </a:t>
            </a:r>
          </a:p>
          <a:p>
            <a:pPr algn="l">
              <a:lnSpc>
                <a:spcPts val="3450"/>
              </a:lnSpc>
            </a:pPr>
            <a:r>
              <a:rPr lang="en-US" sz="2654" spc="-53">
                <a:solidFill>
                  <a:srgbClr val="FFFFFF">
                    <a:alpha val="84706"/>
                  </a:srgbClr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Duran Ponce Luis Adao Leonel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331560" cy="9434305"/>
          </a:xfrm>
          <a:custGeom>
            <a:avLst/>
            <a:gdLst/>
            <a:ahLst/>
            <a:cxnLst/>
            <a:rect r="r" b="b" t="t" l="l"/>
            <a:pathLst>
              <a:path h="9434305" w="11331560">
                <a:moveTo>
                  <a:pt x="0" y="0"/>
                </a:moveTo>
                <a:lnTo>
                  <a:pt x="11331560" y="0"/>
                </a:lnTo>
                <a:lnTo>
                  <a:pt x="11331560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0622" y="0"/>
            <a:ext cx="6967378" cy="9434305"/>
          </a:xfrm>
          <a:custGeom>
            <a:avLst/>
            <a:gdLst/>
            <a:ahLst/>
            <a:cxnLst/>
            <a:rect r="r" b="b" t="t" l="l"/>
            <a:pathLst>
              <a:path h="9434305" w="6967378">
                <a:moveTo>
                  <a:pt x="0" y="0"/>
                </a:moveTo>
                <a:lnTo>
                  <a:pt x="6967378" y="0"/>
                </a:lnTo>
                <a:lnTo>
                  <a:pt x="6967378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16000" y="9204733"/>
            <a:ext cx="4572000" cy="1082267"/>
          </a:xfrm>
          <a:custGeom>
            <a:avLst/>
            <a:gdLst/>
            <a:ahLst/>
            <a:cxnLst/>
            <a:rect r="r" b="b" t="t" l="l"/>
            <a:pathLst>
              <a:path h="1082267" w="4572000">
                <a:moveTo>
                  <a:pt x="0" y="0"/>
                </a:moveTo>
                <a:lnTo>
                  <a:pt x="4572000" y="0"/>
                </a:lnTo>
                <a:lnTo>
                  <a:pt x="457200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7455" y="537887"/>
            <a:ext cx="7227183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spc="-324" b="true">
                <a:solidFill>
                  <a:srgbClr val="2A1C4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Contexto e historia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7910" y="1680022"/>
            <a:ext cx="5539486" cy="45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b="true" sz="3032" spc="-29">
                <a:solidFill>
                  <a:srgbClr val="A088D6"/>
                </a:solidFill>
                <a:latin typeface="Roboto Bold"/>
                <a:ea typeface="Roboto Bold"/>
                <a:cs typeface="Roboto Bold"/>
                <a:sym typeface="Roboto Bold"/>
              </a:rPr>
              <a:t>LA RAZÓN DE SER DE HASKELL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0473" y="2508368"/>
            <a:ext cx="3962070" cy="86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A finales de los 80 existían </a:t>
            </a:r>
            <a:r>
              <a:rPr lang="en-US" sz="1986" spc="-19" b="true">
                <a:solidFill>
                  <a:srgbClr val="453E5C"/>
                </a:solidFill>
                <a:latin typeface="Roboto Bold"/>
                <a:ea typeface="Roboto Bold"/>
                <a:cs typeface="Roboto Bold"/>
                <a:sym typeface="Roboto Bold"/>
              </a:rPr>
              <a:t>muchos lenguajes funcionales perezosos</a:t>
            </a:r>
          </a:p>
          <a:p>
            <a:pPr algn="l">
              <a:lnSpc>
                <a:spcPts val="2383"/>
              </a:lnSpc>
            </a:pPr>
            <a:r>
              <a:rPr lang="en-US" sz="1986" spc="-19" b="true">
                <a:solidFill>
                  <a:srgbClr val="453E5C"/>
                </a:solidFill>
                <a:latin typeface="Roboto Bold"/>
                <a:ea typeface="Roboto Bold"/>
                <a:cs typeface="Roboto Bold"/>
                <a:sym typeface="Roboto Bold"/>
              </a:rPr>
              <a:t>parecidos</a:t>
            </a: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 y ninguno era estándar.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3421712"/>
            <a:ext cx="5020450" cy="229572"/>
          </a:xfrm>
          <a:custGeom>
            <a:avLst/>
            <a:gdLst/>
            <a:ahLst/>
            <a:cxnLst/>
            <a:rect r="r" b="b" t="t" l="l"/>
            <a:pathLst>
              <a:path h="229572" w="5020450">
                <a:moveTo>
                  <a:pt x="0" y="0"/>
                </a:moveTo>
                <a:lnTo>
                  <a:pt x="5020450" y="0"/>
                </a:lnTo>
                <a:lnTo>
                  <a:pt x="5020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06737" y="3818662"/>
            <a:ext cx="4335662" cy="86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En 1987, un </a:t>
            </a:r>
            <a:r>
              <a:rPr lang="en-US" sz="1986" spc="-19" b="true">
                <a:solidFill>
                  <a:srgbClr val="453E5C"/>
                </a:solidFill>
                <a:latin typeface="Roboto Bold"/>
                <a:ea typeface="Roboto Bold"/>
                <a:cs typeface="Roboto Bold"/>
                <a:sym typeface="Roboto Bold"/>
              </a:rPr>
              <a:t>comité académico</a:t>
            </a: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 decidió unirlos y diseñó un lenguaje abierto,</a:t>
            </a:r>
          </a:p>
          <a:p>
            <a:pPr algn="l">
              <a:lnSpc>
                <a:spcPts val="2383"/>
              </a:lnSpc>
            </a:pP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común y puro.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4711687"/>
            <a:ext cx="5020450" cy="218640"/>
          </a:xfrm>
          <a:custGeom>
            <a:avLst/>
            <a:gdLst/>
            <a:ahLst/>
            <a:cxnLst/>
            <a:rect r="r" b="b" t="t" l="l"/>
            <a:pathLst>
              <a:path h="218640" w="5020450">
                <a:moveTo>
                  <a:pt x="0" y="0"/>
                </a:moveTo>
                <a:lnTo>
                  <a:pt x="5020450" y="0"/>
                </a:lnTo>
                <a:lnTo>
                  <a:pt x="502045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02519" y="5083772"/>
            <a:ext cx="4757509" cy="86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El nombre homenajea a </a:t>
            </a:r>
            <a:r>
              <a:rPr lang="en-US" sz="1986" spc="-19" b="true">
                <a:solidFill>
                  <a:srgbClr val="453E5C"/>
                </a:solidFill>
                <a:latin typeface="Roboto Bold"/>
                <a:ea typeface="Roboto Bold"/>
                <a:cs typeface="Roboto Bold"/>
                <a:sym typeface="Roboto Bold"/>
              </a:rPr>
              <a:t>Haskell Curry</a:t>
            </a: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, lógico cuyo trabajo en lógica combinatoria sostiene la teoría funcional.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5990729"/>
            <a:ext cx="5020450" cy="229572"/>
          </a:xfrm>
          <a:custGeom>
            <a:avLst/>
            <a:gdLst/>
            <a:ahLst/>
            <a:cxnLst/>
            <a:rect r="r" b="b" t="t" l="l"/>
            <a:pathLst>
              <a:path h="229572" w="5020450">
                <a:moveTo>
                  <a:pt x="0" y="0"/>
                </a:moveTo>
                <a:lnTo>
                  <a:pt x="5020450" y="0"/>
                </a:lnTo>
                <a:lnTo>
                  <a:pt x="5020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2261" y="6379004"/>
            <a:ext cx="3783277" cy="115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Versiones clave: </a:t>
            </a:r>
            <a:r>
              <a:rPr lang="en-US" sz="1986" spc="-19" b="true">
                <a:solidFill>
                  <a:srgbClr val="453E5C"/>
                </a:solidFill>
                <a:latin typeface="Roboto Bold"/>
                <a:ea typeface="Roboto Bold"/>
                <a:cs typeface="Roboto Bold"/>
                <a:sym typeface="Roboto Bold"/>
              </a:rPr>
              <a:t>Haskell 98</a:t>
            </a: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 y</a:t>
            </a:r>
          </a:p>
          <a:p>
            <a:pPr algn="l">
              <a:lnSpc>
                <a:spcPts val="2383"/>
              </a:lnSpc>
            </a:pPr>
            <a:r>
              <a:rPr lang="en-US" sz="1986" spc="-19" b="true">
                <a:solidFill>
                  <a:srgbClr val="453E5C"/>
                </a:solidFill>
                <a:latin typeface="Roboto Bold"/>
                <a:ea typeface="Roboto Bold"/>
                <a:cs typeface="Roboto Bold"/>
                <a:sym typeface="Roboto Bold"/>
              </a:rPr>
              <a:t>Haskell 2010</a:t>
            </a: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. El compilador de</a:t>
            </a:r>
          </a:p>
          <a:p>
            <a:pPr algn="l">
              <a:lnSpc>
                <a:spcPts val="2383"/>
              </a:lnSpc>
            </a:pP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referencia hoy es </a:t>
            </a:r>
            <a:r>
              <a:rPr lang="en-US" sz="1986" spc="-19" b="true">
                <a:solidFill>
                  <a:srgbClr val="453E5C"/>
                </a:solidFill>
                <a:latin typeface="Roboto Bold"/>
                <a:ea typeface="Roboto Bold"/>
                <a:cs typeface="Roboto Bold"/>
                <a:sym typeface="Roboto Bold"/>
              </a:rPr>
              <a:t>GHC</a:t>
            </a: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, que añade</a:t>
            </a:r>
          </a:p>
          <a:p>
            <a:pPr algn="l">
              <a:lnSpc>
                <a:spcPts val="2383"/>
              </a:lnSpc>
            </a:pP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extensiones.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5330" y="7707051"/>
            <a:ext cx="5020450" cy="229572"/>
          </a:xfrm>
          <a:custGeom>
            <a:avLst/>
            <a:gdLst/>
            <a:ahLst/>
            <a:cxnLst/>
            <a:rect r="r" b="b" t="t" l="l"/>
            <a:pathLst>
              <a:path h="229572" w="5020450">
                <a:moveTo>
                  <a:pt x="0" y="0"/>
                </a:moveTo>
                <a:lnTo>
                  <a:pt x="5020450" y="0"/>
                </a:lnTo>
                <a:lnTo>
                  <a:pt x="5020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2030" y="7930271"/>
            <a:ext cx="4806395" cy="115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19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Idea central: si las funciones se comportan como funciones matemáticas, los programas son más fáciles de </a:t>
            </a:r>
            <a:r>
              <a:rPr lang="en-US" sz="1986" spc="-19" b="true">
                <a:solidFill>
                  <a:srgbClr val="453E5C"/>
                </a:solidFill>
                <a:latin typeface="Roboto Bold"/>
                <a:ea typeface="Roboto Bold"/>
                <a:cs typeface="Roboto Bold"/>
                <a:sym typeface="Roboto Bold"/>
              </a:rPr>
              <a:t>razonar</a:t>
            </a:r>
          </a:p>
          <a:p>
            <a:pPr algn="l">
              <a:lnSpc>
                <a:spcPts val="2383"/>
              </a:lnSpc>
            </a:pPr>
            <a:r>
              <a:rPr lang="en-US" sz="1986" spc="-19" b="true">
                <a:solidFill>
                  <a:srgbClr val="453E5C"/>
                </a:solidFill>
                <a:latin typeface="Roboto Bold"/>
                <a:ea typeface="Roboto Bold"/>
                <a:cs typeface="Roboto Bold"/>
                <a:sym typeface="Roboto Bold"/>
              </a:rPr>
              <a:t>y demostrar.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748622" y="2350377"/>
            <a:ext cx="437512" cy="6657580"/>
          </a:xfrm>
          <a:custGeom>
            <a:avLst/>
            <a:gdLst/>
            <a:ahLst/>
            <a:cxnLst/>
            <a:rect r="r" b="b" t="t" l="l"/>
            <a:pathLst>
              <a:path h="6657580" w="437512">
                <a:moveTo>
                  <a:pt x="0" y="0"/>
                </a:moveTo>
                <a:lnTo>
                  <a:pt x="437512" y="0"/>
                </a:lnTo>
                <a:lnTo>
                  <a:pt x="437512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508364" y="2378356"/>
            <a:ext cx="1936290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97" b="true">
                <a:solidFill>
                  <a:srgbClr val="2A1C4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Finales de los 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99591" y="2779463"/>
            <a:ext cx="2813604" cy="70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5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Muchos lenguajes funcionales perezosos parecidos, sin un estándar común.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21788" y="3718771"/>
            <a:ext cx="593873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97" b="true">
                <a:solidFill>
                  <a:srgbClr val="2A1C4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1987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00308" y="4134939"/>
            <a:ext cx="2741806" cy="70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5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Un comité académico decidió unirlos y diseñó un lenguaje abierto, común y puro.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08542" y="5490415"/>
            <a:ext cx="1918411" cy="47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5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El primer informe del</a:t>
            </a:r>
          </a:p>
          <a:p>
            <a:pPr algn="l">
              <a:lnSpc>
                <a:spcPts val="1940"/>
              </a:lnSpc>
            </a:pPr>
            <a:r>
              <a:rPr lang="en-US" sz="1617" spc="-15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lenguaje vio la luz.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13941" y="6203810"/>
            <a:ext cx="1378540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97" b="true">
                <a:solidFill>
                  <a:srgbClr val="2A1C4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Desde 1990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01089" y="6589856"/>
            <a:ext cx="2663782" cy="70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spc="-15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Evoluciona con Haskell 98, Haskell 2010 y el compilador</a:t>
            </a:r>
          </a:p>
          <a:p>
            <a:pPr algn="l">
              <a:lnSpc>
                <a:spcPts val="1940"/>
              </a:lnSpc>
            </a:pPr>
            <a:r>
              <a:rPr lang="en-US" sz="1617" spc="-15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de referencia GHC.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14158" y="7559286"/>
            <a:ext cx="1356897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97" b="true">
                <a:solidFill>
                  <a:srgbClr val="2A1C4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Idea central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98275" y="7960393"/>
            <a:ext cx="2945165" cy="705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6"/>
              </a:lnSpc>
            </a:pPr>
            <a:r>
              <a:rPr lang="en-US" sz="1546" spc="-15">
                <a:solidFill>
                  <a:srgbClr val="453E5C"/>
                </a:solidFill>
                <a:latin typeface="Roboto"/>
                <a:ea typeface="Roboto"/>
                <a:cs typeface="Roboto"/>
                <a:sym typeface="Roboto"/>
              </a:rPr>
              <a:t>Funciones como en matemáticas para programas más fáciles de razonar y demostrar.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4939" y="9577438"/>
            <a:ext cx="2515464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23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Expositora: Lizeth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092354" y="9423373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704107" y="9421294"/>
            <a:ext cx="4673626" cy="6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2179" spc="-21" b="true">
                <a:solidFill>
                  <a:srgbClr val="F4F4F4"/>
                </a:solidFill>
                <a:latin typeface="Roboto Bold"/>
                <a:ea typeface="Roboto Bold"/>
                <a:cs typeface="Roboto Bold"/>
                <a:sym typeface="Roboto Bold"/>
              </a:rPr>
              <a:t>Introducción a lenguajes funcionales</a:t>
            </a:r>
          </a:p>
          <a:p>
            <a:pPr algn="l">
              <a:lnSpc>
                <a:spcPts val="2616"/>
              </a:lnSpc>
            </a:pPr>
            <a:r>
              <a:rPr lang="en-US" sz="2179" spc="-21" b="true">
                <a:solidFill>
                  <a:srgbClr val="A088D6"/>
                </a:solidFill>
                <a:latin typeface="Roboto Bold"/>
                <a:ea typeface="Roboto Bold"/>
                <a:cs typeface="Roboto Bold"/>
                <a:sym typeface="Roboto Bold"/>
              </a:rPr>
              <a:t>Unidad 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21788" y="5074247"/>
            <a:ext cx="593873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97" b="true">
                <a:solidFill>
                  <a:srgbClr val="2A1C4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1990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207" y="715649"/>
            <a:ext cx="7188629" cy="158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</a:pPr>
            <a:r>
              <a:rPr lang="en-US" sz="6684" spc="-199" b="true">
                <a:solidFill>
                  <a:srgbClr val="281F3F"/>
                </a:solidFill>
                <a:latin typeface="Roboto Bold"/>
                <a:ea typeface="Roboto Bold"/>
                <a:cs typeface="Roboto Bold"/>
                <a:sym typeface="Roboto Bold"/>
              </a:rPr>
              <a:t>Modelo de cómputo</a:t>
            </a:r>
          </a:p>
          <a:p>
            <a:pPr algn="l">
              <a:lnSpc>
                <a:spcPts val="6018"/>
              </a:lnSpc>
            </a:pPr>
            <a:r>
              <a:rPr lang="en-US" sz="6684" spc="-199" b="true">
                <a:solidFill>
                  <a:srgbClr val="281F3F"/>
                </a:solidFill>
                <a:latin typeface="Roboto Bold"/>
                <a:ea typeface="Roboto Bold"/>
                <a:cs typeface="Roboto Bold"/>
                <a:sym typeface="Roboto Bold"/>
              </a:rPr>
              <a:t>y sintaxis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881" y="2478246"/>
            <a:ext cx="7621317" cy="43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b="true" sz="2896" spc="-28">
                <a:solidFill>
                  <a:srgbClr val="A084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EXPRESIONES, PUREZA Y EVALUACIÓN PEREZOSA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8947" y="3155984"/>
            <a:ext cx="6114705" cy="68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281F3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 programa es una colección de </a:t>
            </a:r>
            <a:r>
              <a:rPr lang="en-US" sz="2311" spc="-22" b="true">
                <a:solidFill>
                  <a:srgbClr val="281F3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expresiones</a:t>
            </a:r>
          </a:p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281F3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que se reducen a valores.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8025" y="4074695"/>
            <a:ext cx="6206909" cy="68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 b="true">
                <a:solidFill>
                  <a:srgbClr val="281F3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Pureza</a:t>
            </a:r>
            <a:r>
              <a:rPr lang="en-US" sz="2311" spc="-22">
                <a:solidFill>
                  <a:srgbClr val="281F3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los mismos argumentos siempre dan</a:t>
            </a:r>
          </a:p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281F3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 mismo resultado; los efectos se aislán en </a:t>
            </a:r>
            <a:r>
              <a:rPr lang="en-US" sz="2311" spc="-22" b="true">
                <a:solidFill>
                  <a:srgbClr val="281F3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IO</a:t>
            </a:r>
            <a:r>
              <a:rPr lang="en-US" sz="2311" spc="-22">
                <a:solidFill>
                  <a:srgbClr val="281F3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2242" y="4993407"/>
            <a:ext cx="6785222" cy="68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 b="true">
                <a:solidFill>
                  <a:srgbClr val="281F3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Evaluación perezosa</a:t>
            </a:r>
            <a:r>
              <a:rPr lang="en-US" sz="2311" spc="-22">
                <a:solidFill>
                  <a:srgbClr val="281F3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una expresión se calcula solo cuando se necesita; listas infinitas son válidas.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1340" y="5942240"/>
            <a:ext cx="6875354" cy="68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>
                <a:solidFill>
                  <a:srgbClr val="281F3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Las </a:t>
            </a:r>
            <a:r>
              <a:rPr lang="en-US" sz="2311" spc="-22" b="true">
                <a:solidFill>
                  <a:srgbClr val="281F3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funciones son valores</a:t>
            </a:r>
            <a:r>
              <a:rPr lang="en-US" sz="2311" spc="-22">
                <a:solidFill>
                  <a:srgbClr val="281F3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: se pasan, se devuelven y se componen con </a:t>
            </a:r>
            <a:r>
              <a:rPr lang="en-US" sz="2311" spc="-22" b="true">
                <a:solidFill>
                  <a:srgbClr val="281F3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map, filter y foldr</a:t>
            </a:r>
            <a:r>
              <a:rPr lang="en-US" sz="2311" spc="-22">
                <a:solidFill>
                  <a:srgbClr val="281F3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6854356"/>
            <a:ext cx="8936182" cy="2361309"/>
          </a:xfrm>
          <a:custGeom>
            <a:avLst/>
            <a:gdLst/>
            <a:ahLst/>
            <a:cxnLst/>
            <a:rect r="r" b="b" t="t" l="l"/>
            <a:pathLst>
              <a:path h="2361309" w="8936182">
                <a:moveTo>
                  <a:pt x="0" y="0"/>
                </a:moveTo>
                <a:lnTo>
                  <a:pt x="8936182" y="0"/>
                </a:lnTo>
                <a:lnTo>
                  <a:pt x="893618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3318" y="7011560"/>
            <a:ext cx="4145535" cy="1883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 spc="128" b="true">
                <a:solidFill>
                  <a:srgbClr val="A084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square </a:t>
            </a:r>
            <a:r>
              <a:rPr lang="en-US" sz="2575" spc="12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 = x * x</a:t>
            </a:r>
          </a:p>
          <a:p>
            <a:pPr algn="l">
              <a:lnSpc>
                <a:spcPts val="3090"/>
              </a:lnSpc>
            </a:pPr>
            <a:r>
              <a:rPr lang="en-US" sz="2575" spc="128">
                <a:solidFill>
                  <a:srgbClr val="A084D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evens </a:t>
            </a:r>
            <a:r>
              <a:rPr lang="en-US" sz="2575" spc="128" b="true">
                <a:solidFill>
                  <a:srgbClr val="C89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=</a:t>
            </a:r>
            <a:r>
              <a:rPr lang="en-US" sz="2575" spc="128">
                <a:solidFill>
                  <a:srgbClr val="A084D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filter </a:t>
            </a:r>
            <a:r>
              <a:rPr lang="en-US" sz="2575" spc="12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even</a:t>
            </a:r>
            <a:r>
              <a:rPr lang="en-US" sz="2575" spc="128">
                <a:solidFill>
                  <a:srgbClr val="A084D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575" spc="128" b="true">
                <a:solidFill>
                  <a:srgbClr val="C89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[1..]</a:t>
            </a:r>
          </a:p>
          <a:p>
            <a:pPr algn="l">
              <a:lnSpc>
                <a:spcPts val="3090"/>
              </a:lnSpc>
            </a:pPr>
            <a:r>
              <a:rPr lang="en-US" sz="2575" spc="128" b="true">
                <a:solidFill>
                  <a:srgbClr val="A084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firstThree </a:t>
            </a:r>
            <a:r>
              <a:rPr lang="en-US" sz="2575" spc="128" b="true">
                <a:solidFill>
                  <a:srgbClr val="C89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=</a:t>
            </a:r>
            <a:r>
              <a:rPr lang="en-US" sz="2575" spc="128" b="true">
                <a:solidFill>
                  <a:srgbClr val="A084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take </a:t>
            </a:r>
            <a:r>
              <a:rPr lang="en-US" sz="2575" spc="128" b="true">
                <a:solidFill>
                  <a:srgbClr val="C89C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3</a:t>
            </a:r>
            <a:r>
              <a:rPr lang="en-US" sz="2575" spc="128">
                <a:solidFill>
                  <a:srgbClr val="A084D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575" spc="12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evens</a:t>
            </a:r>
          </a:p>
          <a:p>
            <a:pPr algn="l">
              <a:lnSpc>
                <a:spcPts val="3090"/>
              </a:lnSpc>
            </a:pPr>
            <a:r>
              <a:rPr lang="en-US" sz="2575" spc="128">
                <a:solidFill>
                  <a:srgbClr val="C89C6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&gt;</a:t>
            </a:r>
            <a:r>
              <a:rPr lang="en-US" sz="2575" spc="128">
                <a:solidFill>
                  <a:srgbClr val="A084D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575" spc="12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firstThree</a:t>
            </a:r>
          </a:p>
          <a:p>
            <a:pPr algn="l">
              <a:lnSpc>
                <a:spcPts val="3090"/>
              </a:lnSpc>
            </a:pPr>
            <a:r>
              <a:rPr lang="en-US" sz="2575" spc="128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[2,4,6]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789330" y="2350377"/>
            <a:ext cx="8498670" cy="7083928"/>
          </a:xfrm>
          <a:custGeom>
            <a:avLst/>
            <a:gdLst/>
            <a:ahLst/>
            <a:cxnLst/>
            <a:rect r="r" b="b" t="t" l="l"/>
            <a:pathLst>
              <a:path h="7083928" w="8498670">
                <a:moveTo>
                  <a:pt x="0" y="0"/>
                </a:moveTo>
                <a:lnTo>
                  <a:pt x="8498670" y="0"/>
                </a:lnTo>
                <a:lnTo>
                  <a:pt x="8498670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7658" y="9592499"/>
            <a:ext cx="2243574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 spc="-23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Expositora: Lizeth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092354" y="9423373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24055" y="9431363"/>
            <a:ext cx="4822031" cy="65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spc="-21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Introducción a lenguajes funcionales</a:t>
            </a:r>
          </a:p>
          <a:p>
            <a:pPr algn="l">
              <a:lnSpc>
                <a:spcPts val="2626"/>
              </a:lnSpc>
            </a:pPr>
            <a:r>
              <a:rPr lang="en-US" sz="2188" spc="-21" b="true">
                <a:solidFill>
                  <a:srgbClr val="A084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Unidad 1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716000" y="9204733"/>
            <a:ext cx="4572000" cy="1082267"/>
          </a:xfrm>
          <a:custGeom>
            <a:avLst/>
            <a:gdLst/>
            <a:ahLst/>
            <a:cxnLst/>
            <a:rect r="r" b="b" t="t" l="l"/>
            <a:pathLst>
              <a:path h="1082267" w="4572000">
                <a:moveTo>
                  <a:pt x="0" y="0"/>
                </a:moveTo>
                <a:lnTo>
                  <a:pt x="4572000" y="0"/>
                </a:lnTo>
                <a:lnTo>
                  <a:pt x="457200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6488" y="1497682"/>
            <a:ext cx="9581512" cy="7936623"/>
          </a:xfrm>
          <a:custGeom>
            <a:avLst/>
            <a:gdLst/>
            <a:ahLst/>
            <a:cxnLst/>
            <a:rect r="r" b="b" t="t" l="l"/>
            <a:pathLst>
              <a:path h="7936623" w="9581512">
                <a:moveTo>
                  <a:pt x="0" y="0"/>
                </a:moveTo>
                <a:lnTo>
                  <a:pt x="9581512" y="0"/>
                </a:lnTo>
                <a:lnTo>
                  <a:pt x="9581512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4183" y="668758"/>
            <a:ext cx="6627803" cy="223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7"/>
              </a:lnSpc>
            </a:pPr>
            <a:r>
              <a:rPr lang="en-US" sz="8461" spc="-338" b="true">
                <a:solidFill>
                  <a:srgbClr val="2A1C4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Sistema de tipos y runtime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3279" y="3417554"/>
            <a:ext cx="4718166" cy="62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40" b="true">
                <a:solidFill>
                  <a:srgbClr val="8E72CC"/>
                </a:solidFill>
                <a:latin typeface="Roboto Bold"/>
                <a:ea typeface="Roboto Bold"/>
                <a:cs typeface="Roboto Bold"/>
                <a:sym typeface="Roboto Bold"/>
              </a:rPr>
              <a:t>El compilador previene errores</a:t>
            </a:r>
          </a:p>
          <a:p>
            <a:pPr algn="l">
              <a:lnSpc>
                <a:spcPts val="2457"/>
              </a:lnSpc>
            </a:pP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tipado estático y fuerte antes de ejecutar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3605" y="4336265"/>
            <a:ext cx="5685594" cy="62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40" b="true">
                <a:solidFill>
                  <a:srgbClr val="8E72CC"/>
                </a:solidFill>
                <a:latin typeface="Roboto Bold"/>
                <a:ea typeface="Roboto Bold"/>
                <a:cs typeface="Roboto Bold"/>
                <a:sym typeface="Roboto Bold"/>
              </a:rPr>
              <a:t>Tipos que el compilador deduce</a:t>
            </a:r>
          </a:p>
          <a:p>
            <a:pPr algn="l">
              <a:lnSpc>
                <a:spcPts val="2457"/>
              </a:lnSpc>
            </a:pP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inferencia Hindley-Milner; anotar sigue siendo útil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2606" y="5224855"/>
            <a:ext cx="5785509" cy="62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40" b="true">
                <a:solidFill>
                  <a:srgbClr val="8E72CC"/>
                </a:solidFill>
                <a:latin typeface="Roboto Bold"/>
                <a:ea typeface="Roboto Bold"/>
                <a:cs typeface="Roboto Bold"/>
                <a:sym typeface="Roboto Bold"/>
              </a:rPr>
              <a:t>Ausencia de valores explícita</a:t>
            </a:r>
          </a:p>
          <a:p>
            <a:pPr algn="l">
              <a:lnSpc>
                <a:spcPts val="2457"/>
              </a:lnSpc>
            </a:pP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Maybe usa </a:t>
            </a:r>
            <a:r>
              <a:rPr lang="en-US" sz="2047" spc="-40" b="true">
                <a:solidFill>
                  <a:srgbClr val="7A59B2"/>
                </a:solidFill>
                <a:latin typeface="Roboto Bold"/>
                <a:ea typeface="Roboto Bold"/>
                <a:cs typeface="Roboto Bold"/>
                <a:sym typeface="Roboto Bold"/>
              </a:rPr>
              <a:t>Nothing</a:t>
            </a: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2047" spc="-40" b="true">
                <a:solidFill>
                  <a:srgbClr val="7A59B2"/>
                </a:solidFill>
                <a:latin typeface="Roboto Bold"/>
                <a:ea typeface="Roboto Bold"/>
                <a:cs typeface="Roboto Bold"/>
                <a:sym typeface="Roboto Bold"/>
              </a:rPr>
              <a:t>Just x</a:t>
            </a: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 para forzar el manejo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366" y="6128505"/>
            <a:ext cx="5009472" cy="62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40" b="true">
                <a:solidFill>
                  <a:srgbClr val="8E72CC"/>
                </a:solidFill>
                <a:latin typeface="Roboto Bold"/>
                <a:ea typeface="Roboto Bold"/>
                <a:cs typeface="Roboto Bold"/>
                <a:sym typeface="Roboto Bold"/>
              </a:rPr>
              <a:t>Resultados sin excepciones ocultas</a:t>
            </a:r>
          </a:p>
          <a:p>
            <a:pPr algn="l">
              <a:lnSpc>
                <a:spcPts val="2457"/>
              </a:lnSpc>
            </a:pP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047" spc="-40" b="true">
                <a:solidFill>
                  <a:srgbClr val="2A1C49"/>
                </a:solidFill>
                <a:latin typeface="Roboto Bold"/>
                <a:ea typeface="Roboto Bold"/>
                <a:cs typeface="Roboto Bold"/>
                <a:sym typeface="Roboto Bold"/>
              </a:rPr>
              <a:t>it</a:t>
            </a: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lang="en-US" sz="2047" spc="-40" b="true">
                <a:solidFill>
                  <a:srgbClr val="2A1C49"/>
                </a:solidFill>
                <a:latin typeface="Roboto Bold"/>
                <a:ea typeface="Roboto Bold"/>
                <a:cs typeface="Roboto Bold"/>
                <a:sym typeface="Roboto Bold"/>
              </a:rPr>
              <a:t>e</a:t>
            </a: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r representa éxito </a:t>
            </a:r>
            <a:r>
              <a:rPr lang="en-US" sz="2047" spc="-40" b="true">
                <a:solidFill>
                  <a:srgbClr val="8E72CC"/>
                </a:solidFill>
                <a:latin typeface="Roboto Bold"/>
                <a:ea typeface="Roboto Bold"/>
                <a:cs typeface="Roboto Bold"/>
                <a:sym typeface="Roboto Bold"/>
              </a:rPr>
              <a:t>(Right)</a:t>
            </a: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 o error </a:t>
            </a:r>
            <a:r>
              <a:rPr lang="en-US" sz="2047" spc="-40" b="true">
                <a:solidFill>
                  <a:srgbClr val="2A1C49"/>
                </a:solidFill>
                <a:latin typeface="Roboto Bold"/>
                <a:ea typeface="Roboto Bold"/>
                <a:cs typeface="Roboto Bold"/>
                <a:sym typeface="Roboto Bold"/>
              </a:rPr>
              <a:t>(Left)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1428" y="7032156"/>
            <a:ext cx="4903317" cy="62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40" b="true">
                <a:solidFill>
                  <a:srgbClr val="8E72CC"/>
                </a:solidFill>
                <a:latin typeface="Roboto Bold"/>
                <a:ea typeface="Roboto Bold"/>
                <a:cs typeface="Roboto Bold"/>
                <a:sym typeface="Roboto Bold"/>
              </a:rPr>
              <a:t>Comportamiento compartido sin herencia</a:t>
            </a:r>
          </a:p>
          <a:p>
            <a:pPr algn="l">
              <a:lnSpc>
                <a:spcPts val="2457"/>
              </a:lnSpc>
            </a:pP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clases de tipos como </a:t>
            </a:r>
            <a:r>
              <a:rPr lang="en-US" sz="2047" spc="-40" b="true">
                <a:solidFill>
                  <a:srgbClr val="7A59B2"/>
                </a:solidFill>
                <a:latin typeface="Roboto Bold"/>
                <a:ea typeface="Roboto Bold"/>
                <a:cs typeface="Roboto Bold"/>
                <a:sym typeface="Roboto Bold"/>
              </a:rPr>
              <a:t>Eq, Ord</a:t>
            </a: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2047" spc="-40" b="true">
                <a:solidFill>
                  <a:srgbClr val="8E72CC"/>
                </a:solidFill>
                <a:latin typeface="Roboto Bold"/>
                <a:ea typeface="Roboto Bold"/>
                <a:cs typeface="Roboto Bold"/>
                <a:sym typeface="Roboto Bold"/>
              </a:rPr>
              <a:t>Show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182" y="7950867"/>
            <a:ext cx="6427889" cy="12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40" b="true">
                <a:solidFill>
                  <a:srgbClr val="8E72CC"/>
                </a:solidFill>
                <a:latin typeface="Roboto Bold"/>
                <a:ea typeface="Roboto Bold"/>
                <a:cs typeface="Roboto Bold"/>
                <a:sym typeface="Roboto Bold"/>
              </a:rPr>
              <a:t>Ejecución eficiente y perezosa</a:t>
            </a:r>
          </a:p>
          <a:p>
            <a:pPr algn="l">
              <a:lnSpc>
                <a:spcPts val="2457"/>
              </a:lnSpc>
            </a:pP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GHC compila a código nativo; los cómputos pendientes se guardan como </a:t>
            </a:r>
            <a:r>
              <a:rPr lang="en-US" sz="2047" spc="-40" b="true">
                <a:solidFill>
                  <a:srgbClr val="2A1C49"/>
                </a:solidFill>
                <a:latin typeface="Roboto Bold"/>
                <a:ea typeface="Roboto Bold"/>
                <a:cs typeface="Roboto Bold"/>
                <a:sym typeface="Roboto Bold"/>
              </a:rPr>
              <a:t>thunks</a:t>
            </a: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, se evalúan bajo demanda</a:t>
            </a:r>
          </a:p>
          <a:p>
            <a:pPr algn="l">
              <a:lnSpc>
                <a:spcPts val="2457"/>
              </a:lnSpc>
            </a:pP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y cuentan con </a:t>
            </a:r>
            <a:r>
              <a:rPr lang="en-US" sz="2047" spc="-40" b="true">
                <a:solidFill>
                  <a:srgbClr val="2A1C49"/>
                </a:solidFill>
                <a:latin typeface="Roboto Bold"/>
                <a:ea typeface="Roboto Bold"/>
                <a:cs typeface="Roboto Bold"/>
                <a:sym typeface="Roboto Bold"/>
              </a:rPr>
              <a:t>recolector </a:t>
            </a:r>
            <a:r>
              <a:rPr lang="en-US" sz="2047" spc="-40">
                <a:solidFill>
                  <a:srgbClr val="2A1C49"/>
                </a:solidFill>
                <a:latin typeface="Roboto"/>
                <a:ea typeface="Roboto"/>
                <a:cs typeface="Roboto"/>
                <a:sym typeface="Roboto"/>
              </a:rPr>
              <a:t>de basura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092354" y="9423373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80808" y="9411769"/>
            <a:ext cx="4324692" cy="62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40" b="true">
                <a:solidFill>
                  <a:srgbClr val="FFFFFF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Introducción a lenguajes funcionales</a:t>
            </a:r>
          </a:p>
          <a:p>
            <a:pPr algn="l">
              <a:lnSpc>
                <a:spcPts val="2457"/>
              </a:lnSpc>
            </a:pPr>
            <a:r>
              <a:rPr lang="en-US" sz="2047" spc="-40" b="true">
                <a:solidFill>
                  <a:srgbClr val="8E72CC">
                    <a:alpha val="80000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Unidad 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716000" y="9204733"/>
            <a:ext cx="4572000" cy="1082267"/>
          </a:xfrm>
          <a:custGeom>
            <a:avLst/>
            <a:gdLst/>
            <a:ahLst/>
            <a:cxnLst/>
            <a:rect r="r" b="b" t="t" l="l"/>
            <a:pathLst>
              <a:path h="1082267" w="4572000">
                <a:moveTo>
                  <a:pt x="0" y="0"/>
                </a:moveTo>
                <a:lnTo>
                  <a:pt x="4572000" y="0"/>
                </a:lnTo>
                <a:lnTo>
                  <a:pt x="457200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1596" y="598102"/>
            <a:ext cx="8491913" cy="103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822" spc="-469" b="true">
                <a:solidFill>
                  <a:srgbClr val="2A21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Demo en vivo en Ubuntu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5000" y="1715679"/>
            <a:ext cx="1151515" cy="48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b="true">
                <a:solidFill>
                  <a:srgbClr val="9B84D6"/>
                </a:solidFill>
                <a:latin typeface="Roboto Bold"/>
                <a:ea typeface="Roboto Bold"/>
                <a:cs typeface="Roboto Bold"/>
                <a:sym typeface="Roboto Bold"/>
              </a:rPr>
              <a:t>(LUIS)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3489" y="2779463"/>
            <a:ext cx="6302638" cy="104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4"/>
              </a:lnSpc>
            </a:pPr>
            <a:r>
              <a:rPr lang="en-US" sz="3478">
                <a:solidFill>
                  <a:srgbClr val="2A214B"/>
                </a:solidFill>
                <a:latin typeface="Roboto"/>
                <a:ea typeface="Roboto"/>
                <a:cs typeface="Roboto"/>
                <a:sym typeface="Roboto"/>
              </a:rPr>
              <a:t>Instalación y uso del REPL </a:t>
            </a:r>
            <a:r>
              <a:rPr lang="en-US" sz="3478" b="true">
                <a:solidFill>
                  <a:srgbClr val="9B84D6"/>
                </a:solidFill>
                <a:latin typeface="Roboto Bold"/>
                <a:ea typeface="Roboto Bold"/>
                <a:cs typeface="Roboto Bold"/>
                <a:sym typeface="Roboto Bold"/>
              </a:rPr>
              <a:t>ghci</a:t>
            </a:r>
            <a:r>
              <a:rPr lang="en-US" sz="3478">
                <a:solidFill>
                  <a:srgbClr val="2A214B"/>
                </a:solidFill>
                <a:latin typeface="Roboto"/>
                <a:ea typeface="Roboto"/>
                <a:cs typeface="Roboto"/>
                <a:sym typeface="Roboto"/>
              </a:rPr>
              <a:t> con </a:t>
            </a:r>
            <a:r>
              <a:rPr lang="en-US" sz="3478" b="true">
                <a:solidFill>
                  <a:srgbClr val="9B84D6"/>
                </a:solidFill>
                <a:latin typeface="Roboto Bold"/>
                <a:ea typeface="Roboto Bold"/>
                <a:cs typeface="Roboto Bold"/>
                <a:sym typeface="Roboto Bold"/>
              </a:rPr>
              <a:t>ghcup</a:t>
            </a:r>
            <a:r>
              <a:rPr lang="en-US" sz="3478">
                <a:solidFill>
                  <a:srgbClr val="2A214B"/>
                </a:solidFill>
                <a:latin typeface="Roboto"/>
                <a:ea typeface="Roboto"/>
                <a:cs typeface="Roboto"/>
                <a:sym typeface="Roboto"/>
              </a:rPr>
              <a:t> en Ubuntu.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928" y="4396509"/>
            <a:ext cx="6258756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>
                <a:solidFill>
                  <a:srgbClr val="2A21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Verificamos la instalación con </a:t>
            </a:r>
            <a:r>
              <a:rPr lang="en-US" sz="2443" b="true">
                <a:solidFill>
                  <a:srgbClr val="2A21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ghc --version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238" y="4998943"/>
            <a:ext cx="3527720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>
                <a:solidFill>
                  <a:srgbClr val="2A21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Exploramos el REPL </a:t>
            </a:r>
            <a:r>
              <a:rPr lang="en-US" sz="2443" b="true">
                <a:solidFill>
                  <a:srgbClr val="2A21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ghci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9555" y="5631498"/>
            <a:ext cx="6696095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>
                <a:solidFill>
                  <a:srgbClr val="2A21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Imprimimos del 1 al 10 con </a:t>
            </a:r>
            <a:r>
              <a:rPr lang="en-US" sz="2443" b="true">
                <a:solidFill>
                  <a:srgbClr val="2A21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mapM_ print [1..10]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3796" y="6233932"/>
            <a:ext cx="6271985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>
                <a:solidFill>
                  <a:srgbClr val="2A21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Examinamos listas infinitas con </a:t>
            </a:r>
            <a:r>
              <a:rPr lang="en-US" sz="2443" b="true">
                <a:solidFill>
                  <a:srgbClr val="2A21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take 10 [1..]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0619" y="6851426"/>
            <a:ext cx="6589631" cy="37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443">
                <a:solidFill>
                  <a:srgbClr val="2A21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Observamos la </a:t>
            </a:r>
            <a:r>
              <a:rPr lang="en-US" sz="2443" b="true">
                <a:solidFill>
                  <a:srgbClr val="2A21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evaluación perezosa</a:t>
            </a:r>
            <a:r>
              <a:rPr lang="en-US" sz="2443">
                <a:solidFill>
                  <a:srgbClr val="2A21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en acción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268976" y="1705390"/>
            <a:ext cx="9154938" cy="7083928"/>
          </a:xfrm>
          <a:custGeom>
            <a:avLst/>
            <a:gdLst/>
            <a:ahLst/>
            <a:cxnLst/>
            <a:rect r="r" b="b" t="t" l="l"/>
            <a:pathLst>
              <a:path h="7083928" w="9154938">
                <a:moveTo>
                  <a:pt x="0" y="0"/>
                </a:moveTo>
                <a:lnTo>
                  <a:pt x="9154938" y="0"/>
                </a:lnTo>
                <a:lnTo>
                  <a:pt x="9154938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06488" y="1924030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732509" y="2540579"/>
            <a:ext cx="8109278" cy="70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9D9D9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$ </a:t>
            </a:r>
            <a:r>
              <a:rPr lang="en-US" sz="191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sudo apt install build-essential curl libffi-dev \n</a:t>
            </a:r>
          </a:p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libgmp-dev libncurses-dev pkg-config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50866" y="3429169"/>
            <a:ext cx="6273578" cy="70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9D9D9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$ </a:t>
            </a:r>
            <a:r>
              <a:rPr lang="en-US" sz="191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curl --proto '=https' --tlsv1.2 -sSf \n</a:t>
            </a:r>
          </a:p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https://get-ghcup.haskell.org | sh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25741" y="4289243"/>
            <a:ext cx="8786056" cy="70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9D9D9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$ ghc --version</a:t>
            </a:r>
          </a:p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9D9D9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Glorious Glasgow Haskell Compilation System, version ...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35574" y="5131044"/>
            <a:ext cx="7802788" cy="70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9D9D9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$ ghci</a:t>
            </a:r>
          </a:p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9D9D9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GHCi, version ...: </a:t>
            </a:r>
            <a:r>
              <a:rPr lang="en-US" sz="191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https://www.haskell.org/ghc/ ...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76883" y="6004573"/>
            <a:ext cx="3671902" cy="106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9D9D9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ghci&gt; </a:t>
            </a:r>
            <a:r>
              <a:rPr lang="en-US" sz="1916">
                <a:solidFill>
                  <a:srgbClr val="9B84D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mapM print [1..10]</a:t>
            </a:r>
          </a:p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1 2 3 4 5 6 7 8 9 10</a:t>
            </a:r>
          </a:p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9D9D9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ghci&gt;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79942" y="7134136"/>
            <a:ext cx="3365910" cy="70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9B84D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ghci&gt; </a:t>
            </a:r>
            <a:r>
              <a:rPr lang="en-US" sz="1916">
                <a:solidFill>
                  <a:srgbClr val="9B56E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take 10 [1..]</a:t>
            </a:r>
          </a:p>
          <a:p>
            <a:pPr algn="l">
              <a:lnSpc>
                <a:spcPts val="2874"/>
              </a:lnSpc>
            </a:pPr>
            <a:r>
              <a:rPr lang="en-US" sz="1916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[1,2,3,4,5,6,7,8,9,10]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00335" y="7862871"/>
            <a:ext cx="1326657" cy="43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9D9D9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ghci&gt; </a:t>
            </a:r>
            <a:r>
              <a:rPr lang="en-US" sz="2399" b="true">
                <a:solidFill>
                  <a:srgbClr val="9B84D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|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092354" y="9423373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677318" y="9361050"/>
            <a:ext cx="4673626" cy="65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2179" spc="-21" b="true">
                <a:solidFill>
                  <a:srgbClr val="FFFFFF">
                    <a:alpha val="84706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Introducción a lenguajes funcionales</a:t>
            </a:r>
          </a:p>
          <a:p>
            <a:pPr algn="l">
              <a:lnSpc>
                <a:spcPts val="2616"/>
              </a:lnSpc>
            </a:pPr>
            <a:r>
              <a:rPr lang="en-US" sz="2179" spc="-21" b="true">
                <a:solidFill>
                  <a:srgbClr val="9B84D6">
                    <a:alpha val="84706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Unidad 1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716000" y="9204733"/>
            <a:ext cx="4572000" cy="1082267"/>
          </a:xfrm>
          <a:custGeom>
            <a:avLst/>
            <a:gdLst/>
            <a:ahLst/>
            <a:cxnLst/>
            <a:rect r="r" b="b" t="t" l="l"/>
            <a:pathLst>
              <a:path h="1082267" w="4572000">
                <a:moveTo>
                  <a:pt x="0" y="0"/>
                </a:moveTo>
                <a:lnTo>
                  <a:pt x="4572000" y="0"/>
                </a:lnTo>
                <a:lnTo>
                  <a:pt x="457200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086" y="0"/>
            <a:ext cx="2187560" cy="10287000"/>
          </a:xfrm>
          <a:custGeom>
            <a:avLst/>
            <a:gdLst/>
            <a:ahLst/>
            <a:cxnLst/>
            <a:rect r="r" b="b" t="t" l="l"/>
            <a:pathLst>
              <a:path h="10287000" w="2187560">
                <a:moveTo>
                  <a:pt x="0" y="0"/>
                </a:moveTo>
                <a:lnTo>
                  <a:pt x="2187560" y="0"/>
                </a:lnTo>
                <a:lnTo>
                  <a:pt x="21875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6842" y="0"/>
            <a:ext cx="8061158" cy="10287000"/>
          </a:xfrm>
          <a:custGeom>
            <a:avLst/>
            <a:gdLst/>
            <a:ahLst/>
            <a:cxnLst/>
            <a:rect r="r" b="b" t="t" l="l"/>
            <a:pathLst>
              <a:path h="10287000" w="8061158">
                <a:moveTo>
                  <a:pt x="0" y="0"/>
                </a:moveTo>
                <a:lnTo>
                  <a:pt x="8061158" y="0"/>
                </a:lnTo>
                <a:lnTo>
                  <a:pt x="8061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9525" y="583926"/>
            <a:ext cx="4772505" cy="137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9"/>
              </a:lnSpc>
            </a:pPr>
            <a:r>
              <a:rPr lang="en-US" sz="10369" spc="-207" b="true">
                <a:solidFill>
                  <a:srgbClr val="251C4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Caso real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2166" y="2549555"/>
            <a:ext cx="4187265" cy="78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spc="-49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Motor de valuación y riesgo de</a:t>
            </a:r>
          </a:p>
          <a:p>
            <a:pPr algn="l">
              <a:lnSpc>
                <a:spcPts val="3232"/>
              </a:lnSpc>
            </a:pPr>
            <a:r>
              <a:rPr lang="en-US" sz="2487" spc="-49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derivados financieros.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3640352"/>
            <a:ext cx="5676718" cy="218640"/>
          </a:xfrm>
          <a:custGeom>
            <a:avLst/>
            <a:gdLst/>
            <a:ahLst/>
            <a:cxnLst/>
            <a:rect r="r" b="b" t="t" l="l"/>
            <a:pathLst>
              <a:path h="218640" w="5676718">
                <a:moveTo>
                  <a:pt x="0" y="0"/>
                </a:moveTo>
                <a:lnTo>
                  <a:pt x="5676718" y="0"/>
                </a:lnTo>
                <a:lnTo>
                  <a:pt x="5676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7453" y="4076193"/>
            <a:ext cx="1658575" cy="33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b="true" sz="2047" spc="-40">
                <a:solidFill>
                  <a:srgbClr val="251C4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CORTEX Y MU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0651" y="4477151"/>
            <a:ext cx="5338792" cy="121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38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 biblioteca de valuación y riesgo es </a:t>
            </a:r>
            <a:r>
              <a:rPr lang="en-US" sz="1916" spc="-38" b="true">
                <a:solidFill>
                  <a:srgbClr val="251C4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Cortex</a:t>
            </a:r>
            <a:r>
              <a:rPr lang="en-US" sz="1916" spc="-38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 algn="l">
              <a:lnSpc>
                <a:spcPts val="2490"/>
              </a:lnSpc>
            </a:pPr>
            <a:r>
              <a:rPr lang="en-US" sz="1916" spc="-38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 programación de alto nivel se hace en </a:t>
            </a:r>
            <a:r>
              <a:rPr lang="en-US" sz="1916" spc="-38" b="true">
                <a:solidFill>
                  <a:srgbClr val="251C4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Mu</a:t>
            </a:r>
          </a:p>
          <a:p>
            <a:pPr algn="l">
              <a:lnSpc>
                <a:spcPts val="2490"/>
              </a:lnSpc>
            </a:pPr>
            <a:r>
              <a:rPr lang="en-US" sz="1916" spc="-38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(dialecto estricto de Haskell) y el código numérico de bajo nivel en C++.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5783021"/>
            <a:ext cx="5676718" cy="218640"/>
          </a:xfrm>
          <a:custGeom>
            <a:avLst/>
            <a:gdLst/>
            <a:ahLst/>
            <a:cxnLst/>
            <a:rect r="r" b="b" t="t" l="l"/>
            <a:pathLst>
              <a:path h="218640" w="5676718">
                <a:moveTo>
                  <a:pt x="0" y="0"/>
                </a:moveTo>
                <a:lnTo>
                  <a:pt x="5676718" y="0"/>
                </a:lnTo>
                <a:lnTo>
                  <a:pt x="5676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62927" y="6244955"/>
            <a:ext cx="2111244" cy="33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b="true" sz="2047" spc="-40">
                <a:solidFill>
                  <a:srgbClr val="251C4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POR QUÉ ENCAJA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6427" y="6645912"/>
            <a:ext cx="4761229" cy="91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1916" spc="-38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Valuar un contrato es una función pura.</a:t>
            </a:r>
          </a:p>
          <a:p>
            <a:pPr algn="l">
              <a:lnSpc>
                <a:spcPts val="2490"/>
              </a:lnSpc>
            </a:pPr>
            <a:r>
              <a:rPr lang="en-US" sz="1916" spc="-38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Los tipos evitan mezclar monedas, unidades</a:t>
            </a:r>
          </a:p>
          <a:p>
            <a:pPr algn="l">
              <a:lnSpc>
                <a:spcPts val="2490"/>
              </a:lnSpc>
            </a:pPr>
            <a:r>
              <a:rPr lang="en-US" sz="1916" spc="-38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 instrumentos.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4086" y="7707051"/>
            <a:ext cx="5676718" cy="229572"/>
          </a:xfrm>
          <a:custGeom>
            <a:avLst/>
            <a:gdLst/>
            <a:ahLst/>
            <a:cxnLst/>
            <a:rect r="r" b="b" t="t" l="l"/>
            <a:pathLst>
              <a:path h="229572" w="5676718">
                <a:moveTo>
                  <a:pt x="0" y="0"/>
                </a:moveTo>
                <a:lnTo>
                  <a:pt x="5676718" y="0"/>
                </a:lnTo>
                <a:lnTo>
                  <a:pt x="5676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74626" y="8097438"/>
            <a:ext cx="941350" cy="33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b="true" sz="2047" spc="-40">
                <a:solidFill>
                  <a:srgbClr val="251C4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FUENTE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3698" y="8489020"/>
            <a:ext cx="5034071" cy="6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i="true" spc="-40">
                <a:solidFill>
                  <a:srgbClr val="251C46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Functional Programming in Financial Markets</a:t>
            </a:r>
          </a:p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251C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(Experience Report), ACM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2387" y="9211940"/>
            <a:ext cx="5165245" cy="333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 b="true">
                <a:solidFill>
                  <a:srgbClr val="685ABA">
                    <a:alpha val="74902"/>
                  </a:srgbClr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https://dl.acm.org/doi/full/10.1145/3674633</a:t>
            </a:r>
          </a:p>
        </p:txBody>
      </p:sp>
      <p:sp>
        <p:nvSpPr>
          <p:cNvPr name="TextBox 17" id="17"/>
          <p:cNvSpPr txBox="true"/>
          <p:nvPr/>
        </p:nvSpPr>
        <p:spPr>
          <a:xfrm rot="-595898">
            <a:off x="13505834" y="1499909"/>
            <a:ext cx="1329190" cy="56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2487" i="true" spc="-49">
                <a:solidFill>
                  <a:srgbClr val="FFFFFF">
                    <a:alpha val="80000"/>
                  </a:srgbClr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Standard</a:t>
            </a:r>
          </a:p>
          <a:p>
            <a:pPr algn="ctr">
              <a:lnSpc>
                <a:spcPts val="2239"/>
              </a:lnSpc>
            </a:pPr>
            <a:r>
              <a:rPr lang="en-US" sz="2487" i="true" spc="-49">
                <a:solidFill>
                  <a:srgbClr val="FFFFFF">
                    <a:alpha val="80000"/>
                  </a:srgbClr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Chartered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798842" y="1071335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3716000" cy="9434305"/>
          </a:xfrm>
          <a:custGeom>
            <a:avLst/>
            <a:gdLst/>
            <a:ahLst/>
            <a:cxnLst/>
            <a:rect r="r" b="b" t="t" l="l"/>
            <a:pathLst>
              <a:path h="9434305" w="13716000">
                <a:moveTo>
                  <a:pt x="0" y="0"/>
                </a:moveTo>
                <a:lnTo>
                  <a:pt x="13716000" y="0"/>
                </a:lnTo>
                <a:lnTo>
                  <a:pt x="13716000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97244" y="0"/>
            <a:ext cx="4790756" cy="9434305"/>
          </a:xfrm>
          <a:custGeom>
            <a:avLst/>
            <a:gdLst/>
            <a:ahLst/>
            <a:cxnLst/>
            <a:rect r="r" b="b" t="t" l="l"/>
            <a:pathLst>
              <a:path h="9434305" w="4790756">
                <a:moveTo>
                  <a:pt x="0" y="0"/>
                </a:moveTo>
                <a:lnTo>
                  <a:pt x="4790756" y="0"/>
                </a:lnTo>
                <a:lnTo>
                  <a:pt x="4790756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97244" y="9204733"/>
            <a:ext cx="4790756" cy="1082267"/>
          </a:xfrm>
          <a:custGeom>
            <a:avLst/>
            <a:gdLst/>
            <a:ahLst/>
            <a:cxnLst/>
            <a:rect r="r" b="b" t="t" l="l"/>
            <a:pathLst>
              <a:path h="1082267" w="4790756">
                <a:moveTo>
                  <a:pt x="0" y="0"/>
                </a:moveTo>
                <a:lnTo>
                  <a:pt x="4790756" y="0"/>
                </a:lnTo>
                <a:lnTo>
                  <a:pt x="479075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3614" y="637330"/>
            <a:ext cx="5290158" cy="94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4"/>
              </a:lnSpc>
            </a:pPr>
            <a:r>
              <a:rPr lang="en-US" sz="7154" spc="-286" b="true">
                <a:solidFill>
                  <a:srgbClr val="291F46"/>
                </a:solidFill>
                <a:latin typeface="Roboto Bold"/>
                <a:ea typeface="Roboto Bold"/>
                <a:cs typeface="Roboto Bold"/>
                <a:sym typeface="Roboto Bold"/>
              </a:rPr>
              <a:t>Haskell vs Mu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1600" y="1743377"/>
            <a:ext cx="3849396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b="true" sz="2759" spc="-55">
                <a:solidFill>
                  <a:srgbClr val="9176B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QUÉ CAMBIÓ EL BANCO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094" y="2400643"/>
            <a:ext cx="8036719" cy="72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 no es el compilador de Haskell: es un </a:t>
            </a:r>
            <a:r>
              <a:rPr lang="en-US" sz="2254" spc="-45" b="true">
                <a:solidFill>
                  <a:srgbClr val="291F4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lenguaje distinto</a:t>
            </a:r>
            <a:r>
              <a:rPr lang="en-US" sz="2254" spc="-45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basado en Haskell, creado por Standard Chartered.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3421712"/>
            <a:ext cx="6322048" cy="874559"/>
          </a:xfrm>
          <a:custGeom>
            <a:avLst/>
            <a:gdLst/>
            <a:ahLst/>
            <a:cxnLst/>
            <a:rect r="r" b="b" t="t" l="l"/>
            <a:pathLst>
              <a:path h="874559" w="6322048">
                <a:moveTo>
                  <a:pt x="0" y="0"/>
                </a:moveTo>
                <a:lnTo>
                  <a:pt x="6322048" y="0"/>
                </a:lnTo>
                <a:lnTo>
                  <a:pt x="632204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81983" y="3684476"/>
            <a:ext cx="993382" cy="38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b="true" sz="2351" spc="-47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Haskell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748622" y="3421712"/>
            <a:ext cx="6322048" cy="874559"/>
          </a:xfrm>
          <a:custGeom>
            <a:avLst/>
            <a:gdLst/>
            <a:ahLst/>
            <a:cxnLst/>
            <a:rect r="r" b="b" t="t" l="l"/>
            <a:pathLst>
              <a:path h="874559" w="6322048">
                <a:moveTo>
                  <a:pt x="0" y="0"/>
                </a:moveTo>
                <a:lnTo>
                  <a:pt x="6322048" y="0"/>
                </a:lnTo>
                <a:lnTo>
                  <a:pt x="632204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5330" y="4066699"/>
            <a:ext cx="12425340" cy="4941258"/>
          </a:xfrm>
          <a:custGeom>
            <a:avLst/>
            <a:gdLst/>
            <a:ahLst/>
            <a:cxnLst/>
            <a:rect r="r" b="b" t="t" l="l"/>
            <a:pathLst>
              <a:path h="4941258" w="12425340">
                <a:moveTo>
                  <a:pt x="0" y="0"/>
                </a:moveTo>
                <a:lnTo>
                  <a:pt x="12425340" y="0"/>
                </a:lnTo>
                <a:lnTo>
                  <a:pt x="12425340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425969" y="5190448"/>
            <a:ext cx="4817940" cy="59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1784" spc="-35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Usa un compilador propio del banco</a:t>
            </a:r>
          </a:p>
          <a:p>
            <a:pPr algn="l">
              <a:lnSpc>
                <a:spcPts val="2498"/>
              </a:lnSpc>
            </a:pPr>
            <a:r>
              <a:rPr lang="en-US" sz="1784" spc="-35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que genera bytecode para un intérprete pequeño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25277" y="7042931"/>
            <a:ext cx="4887112" cy="903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1784" spc="-35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 rendimiento es más fácil de analizar y predecir, aunque no se pueden copiar librerías de Haskell que dependen de la pereza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092354" y="9423373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28178" y="8368445"/>
            <a:ext cx="4522075" cy="28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6" spc="-33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parece en: sintaxis, pureza y sistema de tipos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8928" y="8368445"/>
            <a:ext cx="4522075" cy="28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6" spc="-33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parece en: sintaxis, pureza y sistema de tipos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41680" y="6259927"/>
            <a:ext cx="3246846" cy="28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6" spc="-33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Estricto: calcula todo de inmediato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2127" y="4437565"/>
            <a:ext cx="3127161" cy="28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6" spc="-33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Creado por un comité académico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44909" y="4437565"/>
            <a:ext cx="2923919" cy="28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6" spc="-33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Creado por Standard Chartered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7737" y="5190607"/>
            <a:ext cx="2566127" cy="28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6" spc="-33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Usa GHC como compilador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3203" y="6259927"/>
            <a:ext cx="2019544" cy="28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6" spc="-33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Perezoso por defecto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4538" y="7043091"/>
            <a:ext cx="886025" cy="28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96" spc="-33">
                <a:solidFill>
                  <a:srgbClr val="291F4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aplica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64275" y="3684476"/>
            <a:ext cx="430297" cy="38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</a:pPr>
            <a:r>
              <a:rPr lang="en-US" b="true" sz="2351" spc="-47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5499" y="583056"/>
            <a:ext cx="10780605" cy="205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7961" spc="-318" b="true">
                <a:solidFill>
                  <a:srgbClr val="3328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Cierre y comparación con</a:t>
            </a:r>
          </a:p>
          <a:p>
            <a:pPr algn="l">
              <a:lnSpc>
                <a:spcPts val="7961"/>
              </a:lnSpc>
            </a:pPr>
            <a:r>
              <a:rPr lang="en-US" sz="7961" spc="-318" b="true">
                <a:solidFill>
                  <a:srgbClr val="3328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los otros lenguajes del curso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040708" y="2776725"/>
            <a:ext cx="3926670" cy="874559"/>
          </a:xfrm>
          <a:custGeom>
            <a:avLst/>
            <a:gdLst/>
            <a:ahLst/>
            <a:cxnLst/>
            <a:rect r="r" b="b" t="t" l="l"/>
            <a:pathLst>
              <a:path h="874559" w="3926670">
                <a:moveTo>
                  <a:pt x="0" y="0"/>
                </a:moveTo>
                <a:lnTo>
                  <a:pt x="3926670" y="0"/>
                </a:lnTo>
                <a:lnTo>
                  <a:pt x="392667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08946" y="3034240"/>
            <a:ext cx="1063522" cy="41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b="true" sz="2896" spc="-86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Haskell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748622" y="2776725"/>
            <a:ext cx="3707914" cy="874559"/>
          </a:xfrm>
          <a:custGeom>
            <a:avLst/>
            <a:gdLst/>
            <a:ahLst/>
            <a:cxnLst/>
            <a:rect r="r" b="b" t="t" l="l"/>
            <a:pathLst>
              <a:path h="874559" w="3707914">
                <a:moveTo>
                  <a:pt x="0" y="0"/>
                </a:moveTo>
                <a:lnTo>
                  <a:pt x="3707914" y="0"/>
                </a:lnTo>
                <a:lnTo>
                  <a:pt x="370791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11984" y="3034240"/>
            <a:ext cx="1036914" cy="41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b="true" sz="2896" spc="-86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Scala 3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26842" y="2776725"/>
            <a:ext cx="3707914" cy="874559"/>
          </a:xfrm>
          <a:custGeom>
            <a:avLst/>
            <a:gdLst/>
            <a:ahLst/>
            <a:cxnLst/>
            <a:rect r="r" b="b" t="t" l="l"/>
            <a:pathLst>
              <a:path h="874559" w="3707914">
                <a:moveTo>
                  <a:pt x="0" y="0"/>
                </a:moveTo>
                <a:lnTo>
                  <a:pt x="3707914" y="0"/>
                </a:lnTo>
                <a:lnTo>
                  <a:pt x="370791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13736" y="3034240"/>
            <a:ext cx="705723" cy="41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b="true" sz="2896" spc="-86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Elixir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716000" y="2776725"/>
            <a:ext cx="3926670" cy="874559"/>
          </a:xfrm>
          <a:custGeom>
            <a:avLst/>
            <a:gdLst/>
            <a:ahLst/>
            <a:cxnLst/>
            <a:rect r="r" b="b" t="t" l="l"/>
            <a:pathLst>
              <a:path h="874559" w="3926670">
                <a:moveTo>
                  <a:pt x="0" y="0"/>
                </a:moveTo>
                <a:lnTo>
                  <a:pt x="3926670" y="0"/>
                </a:lnTo>
                <a:lnTo>
                  <a:pt x="392667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096112" y="3034240"/>
            <a:ext cx="1013284" cy="41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4"/>
              </a:lnSpc>
            </a:pPr>
            <a:r>
              <a:rPr lang="en-US" b="true" sz="2896" spc="-86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Clojure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3421712"/>
            <a:ext cx="2625072" cy="1508614"/>
          </a:xfrm>
          <a:custGeom>
            <a:avLst/>
            <a:gdLst/>
            <a:ahLst/>
            <a:cxnLst/>
            <a:rect r="r" b="b" t="t" l="l"/>
            <a:pathLst>
              <a:path h="1508614" w="2625072">
                <a:moveTo>
                  <a:pt x="0" y="0"/>
                </a:moveTo>
                <a:lnTo>
                  <a:pt x="2625072" y="0"/>
                </a:lnTo>
                <a:lnTo>
                  <a:pt x="2625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4925" y="3952952"/>
            <a:ext cx="1305957" cy="41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896" spc="-8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Prioridad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040708" y="3421712"/>
            <a:ext cx="3926670" cy="1508614"/>
          </a:xfrm>
          <a:custGeom>
            <a:avLst/>
            <a:gdLst/>
            <a:ahLst/>
            <a:cxnLst/>
            <a:rect r="r" b="b" t="t" l="l"/>
            <a:pathLst>
              <a:path h="1508614" w="3926670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10747" y="3959744"/>
            <a:ext cx="2540923" cy="32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Prioriza la corrección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748622" y="3421712"/>
            <a:ext cx="3707914" cy="1508614"/>
          </a:xfrm>
          <a:custGeom>
            <a:avLst/>
            <a:gdLst/>
            <a:ahLst/>
            <a:cxnLst/>
            <a:rect r="r" b="b" t="t" l="l"/>
            <a:pathLst>
              <a:path h="1508614" w="3707914">
                <a:moveTo>
                  <a:pt x="0" y="0"/>
                </a:moveTo>
                <a:lnTo>
                  <a:pt x="3707914" y="0"/>
                </a:lnTo>
                <a:lnTo>
                  <a:pt x="3707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100519" y="3959744"/>
            <a:ext cx="2537180" cy="32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Prioriza la flexibilidad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226842" y="3421712"/>
            <a:ext cx="3707914" cy="1508614"/>
          </a:xfrm>
          <a:custGeom>
            <a:avLst/>
            <a:gdLst/>
            <a:ahLst/>
            <a:cxnLst/>
            <a:rect r="r" b="b" t="t" l="l"/>
            <a:pathLst>
              <a:path h="1508614" w="3707914">
                <a:moveTo>
                  <a:pt x="0" y="0"/>
                </a:moveTo>
                <a:lnTo>
                  <a:pt x="3707914" y="0"/>
                </a:lnTo>
                <a:lnTo>
                  <a:pt x="370791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633258" y="3863844"/>
            <a:ext cx="2878933" cy="58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Prioriza la concurrencia y la tolerancia a fallos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716000" y="3421712"/>
            <a:ext cx="3926670" cy="1508614"/>
          </a:xfrm>
          <a:custGeom>
            <a:avLst/>
            <a:gdLst/>
            <a:ahLst/>
            <a:cxnLst/>
            <a:rect r="r" b="b" t="t" l="l"/>
            <a:pathLst>
              <a:path h="1508614" w="3926670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225681" y="3959744"/>
            <a:ext cx="2610013" cy="32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Prioriza la simplicidad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45330" y="4711687"/>
            <a:ext cx="2625072" cy="1934962"/>
          </a:xfrm>
          <a:custGeom>
            <a:avLst/>
            <a:gdLst/>
            <a:ahLst/>
            <a:cxnLst/>
            <a:rect r="r" b="b" t="t" l="l"/>
            <a:pathLst>
              <a:path h="1934962" w="2625072">
                <a:moveTo>
                  <a:pt x="0" y="0"/>
                </a:moveTo>
                <a:lnTo>
                  <a:pt x="2625072" y="0"/>
                </a:lnTo>
                <a:lnTo>
                  <a:pt x="262507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01412" y="5157819"/>
            <a:ext cx="1657237" cy="80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896" spc="-8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Rasgo que</a:t>
            </a:r>
          </a:p>
          <a:p>
            <a:pPr algn="l">
              <a:lnSpc>
                <a:spcPts val="3184"/>
              </a:lnSpc>
            </a:pPr>
            <a:r>
              <a:rPr lang="en-US" sz="2896" spc="-8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 distingue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040708" y="4711687"/>
            <a:ext cx="3926670" cy="1934962"/>
          </a:xfrm>
          <a:custGeom>
            <a:avLst/>
            <a:gdLst/>
            <a:ahLst/>
            <a:cxnLst/>
            <a:rect r="r" b="b" t="t" l="l"/>
            <a:pathLst>
              <a:path h="1934962" w="3926670">
                <a:moveTo>
                  <a:pt x="0" y="0"/>
                </a:moveTo>
                <a:lnTo>
                  <a:pt x="3926670" y="0"/>
                </a:lnTo>
                <a:lnTo>
                  <a:pt x="392667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507698" y="5099907"/>
            <a:ext cx="2845804" cy="92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Puro, con tipos muy fuertes, y el compilador rechaza errores antes de ejecutar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748622" y="4711687"/>
            <a:ext cx="3707914" cy="1934962"/>
          </a:xfrm>
          <a:custGeom>
            <a:avLst/>
            <a:gdLst/>
            <a:ahLst/>
            <a:cxnLst/>
            <a:rect r="r" b="b" t="t" l="l"/>
            <a:pathLst>
              <a:path h="1934962" w="3707914">
                <a:moveTo>
                  <a:pt x="0" y="0"/>
                </a:moveTo>
                <a:lnTo>
                  <a:pt x="3707914" y="0"/>
                </a:lnTo>
                <a:lnTo>
                  <a:pt x="370791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104784" y="5029064"/>
            <a:ext cx="2110639" cy="92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Mezcla objetos y funciones y corre</a:t>
            </a:r>
          </a:p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sobre la JVM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226842" y="4711687"/>
            <a:ext cx="3707914" cy="1934962"/>
          </a:xfrm>
          <a:custGeom>
            <a:avLst/>
            <a:gdLst/>
            <a:ahLst/>
            <a:cxnLst/>
            <a:rect r="r" b="b" t="t" l="l"/>
            <a:pathLst>
              <a:path h="1934962" w="3707914">
                <a:moveTo>
                  <a:pt x="0" y="0"/>
                </a:moveTo>
                <a:lnTo>
                  <a:pt x="3707914" y="0"/>
                </a:lnTo>
                <a:lnTo>
                  <a:pt x="370791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641494" y="5038590"/>
            <a:ext cx="2055291" cy="58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Muchos procesos</a:t>
            </a:r>
          </a:p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ligeros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716000" y="4711687"/>
            <a:ext cx="3926670" cy="1934962"/>
          </a:xfrm>
          <a:custGeom>
            <a:avLst/>
            <a:gdLst/>
            <a:ahLst/>
            <a:cxnLst/>
            <a:rect r="r" b="b" t="t" l="l"/>
            <a:pathLst>
              <a:path h="1934962" w="3926670">
                <a:moveTo>
                  <a:pt x="0" y="0"/>
                </a:moveTo>
                <a:lnTo>
                  <a:pt x="3926670" y="0"/>
                </a:lnTo>
                <a:lnTo>
                  <a:pt x="392667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228702" y="5029064"/>
            <a:ext cx="2307913" cy="92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Datos inmutables y sintaxis mínima</a:t>
            </a:r>
          </a:p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sobre la JVM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45330" y="6428009"/>
            <a:ext cx="2625072" cy="1716322"/>
          </a:xfrm>
          <a:custGeom>
            <a:avLst/>
            <a:gdLst/>
            <a:ahLst/>
            <a:cxnLst/>
            <a:rect r="r" b="b" t="t" l="l"/>
            <a:pathLst>
              <a:path h="1716322" w="2625072">
                <a:moveTo>
                  <a:pt x="0" y="0"/>
                </a:moveTo>
                <a:lnTo>
                  <a:pt x="2625072" y="0"/>
                </a:lnTo>
                <a:lnTo>
                  <a:pt x="2625072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05174" y="6799450"/>
            <a:ext cx="1281028" cy="80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896" spc="-8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Cuándo</a:t>
            </a:r>
          </a:p>
          <a:p>
            <a:pPr algn="l">
              <a:lnSpc>
                <a:spcPts val="3184"/>
              </a:lnSpc>
            </a:pPr>
            <a:r>
              <a:rPr lang="en-US" sz="2896" spc="-86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conviene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3040708" y="6428009"/>
            <a:ext cx="3926670" cy="1716322"/>
          </a:xfrm>
          <a:custGeom>
            <a:avLst/>
            <a:gdLst/>
            <a:ahLst/>
            <a:cxnLst/>
            <a:rect r="r" b="b" t="t" l="l"/>
            <a:pathLst>
              <a:path h="1716322" w="3926670">
                <a:moveTo>
                  <a:pt x="0" y="0"/>
                </a:moveTo>
                <a:lnTo>
                  <a:pt x="3926670" y="0"/>
                </a:lnTo>
                <a:lnTo>
                  <a:pt x="3926670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507742" y="6822420"/>
            <a:ext cx="2841445" cy="62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Cuando un fallo es muy costoso, como en finanzas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6748622" y="6428009"/>
            <a:ext cx="3707914" cy="1716322"/>
          </a:xfrm>
          <a:custGeom>
            <a:avLst/>
            <a:gdLst/>
            <a:ahLst/>
            <a:cxnLst/>
            <a:rect r="r" b="b" t="t" l="l"/>
            <a:pathLst>
              <a:path h="1716322" w="3707914">
                <a:moveTo>
                  <a:pt x="0" y="0"/>
                </a:moveTo>
                <a:lnTo>
                  <a:pt x="3707914" y="0"/>
                </a:lnTo>
                <a:lnTo>
                  <a:pt x="3707914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104582" y="6680221"/>
            <a:ext cx="2130882" cy="58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 ya existe código</a:t>
            </a:r>
          </a:p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 Java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0226842" y="6428009"/>
            <a:ext cx="3707914" cy="1716322"/>
          </a:xfrm>
          <a:custGeom>
            <a:avLst/>
            <a:gdLst/>
            <a:ahLst/>
            <a:cxnLst/>
            <a:rect r="r" b="b" t="t" l="l"/>
            <a:pathLst>
              <a:path h="1716322" w="3707914">
                <a:moveTo>
                  <a:pt x="0" y="0"/>
                </a:moveTo>
                <a:lnTo>
                  <a:pt x="3707914" y="0"/>
                </a:lnTo>
                <a:lnTo>
                  <a:pt x="3707914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632593" y="6670697"/>
            <a:ext cx="2945351" cy="92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60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 sistemas que atienden a miles de usuarios y no deben caerse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3716000" y="6428009"/>
            <a:ext cx="3926670" cy="1716322"/>
          </a:xfrm>
          <a:custGeom>
            <a:avLst/>
            <a:gdLst/>
            <a:ahLst/>
            <a:cxnLst/>
            <a:rect r="r" b="b" t="t" l="l"/>
            <a:pathLst>
              <a:path h="1716322" w="3926670">
                <a:moveTo>
                  <a:pt x="0" y="0"/>
                </a:moveTo>
                <a:lnTo>
                  <a:pt x="3926670" y="0"/>
                </a:lnTo>
                <a:lnTo>
                  <a:pt x="3926670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4222788" y="6680221"/>
            <a:ext cx="2899350" cy="58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>
                <a:solidFill>
                  <a:srgbClr val="3328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Para manipular datos con pocas reglas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645330" y="8133399"/>
            <a:ext cx="16997340" cy="1727254"/>
          </a:xfrm>
          <a:custGeom>
            <a:avLst/>
            <a:gdLst/>
            <a:ahLst/>
            <a:cxnLst/>
            <a:rect r="r" b="b" t="t" l="l"/>
            <a:pathLst>
              <a:path h="1727254" w="16997340">
                <a:moveTo>
                  <a:pt x="0" y="0"/>
                </a:moveTo>
                <a:lnTo>
                  <a:pt x="16997340" y="0"/>
                </a:lnTo>
                <a:lnTo>
                  <a:pt x="1699734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45330" y="8133399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232039" y="8549986"/>
            <a:ext cx="9860895" cy="96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sz="3662" spc="-10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 el compilador de Haskell acepta el programa,</a:t>
            </a:r>
          </a:p>
          <a:p>
            <a:pPr algn="l">
              <a:lnSpc>
                <a:spcPts val="3662"/>
              </a:lnSpc>
            </a:pPr>
            <a:r>
              <a:rPr lang="en-US" sz="3662" spc="-109" b="true">
                <a:solidFill>
                  <a:srgbClr val="A08CD8"/>
                </a:solidFill>
                <a:latin typeface="Roboto Bold"/>
                <a:ea typeface="Roboto Bold"/>
                <a:cs typeface="Roboto Bold"/>
                <a:sym typeface="Roboto Bold"/>
              </a:rPr>
              <a:t>ya descartó una familia entera de errores de tipos.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DAHXIPe3l2A</dc:identifier>
  <dcterms:modified xsi:type="dcterms:W3CDTF">2011-08-01T06:04:30Z</dcterms:modified>
  <cp:revision>1</cp:revision>
  <dc:title>Haskell Unidad 1</dc:title>
</cp:coreProperties>
</file>